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20"/>
    <p:sldId id="271" r:id="rId21"/>
    <p:sldId id="272" r:id="rId22"/>
    <p:sldId id="273" r:id="rId23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8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914400"/>
            <a:ext cx="347472" cy="347472"/>
          </a:xfrm>
          <a:prstGeom prst="ellipse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49840" y="1554480"/>
            <a:ext cx="228600" cy="228600"/>
          </a:xfrm>
          <a:prstGeom prst="ellipse">
            <a:avLst/>
          </a:prstGeom>
          <a:solidFill>
            <a:srgbClr val="F29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2743200"/>
            <a:ext cx="438912" cy="438912"/>
          </a:xfrm>
          <a:prstGeom prst="ellipse">
            <a:avLst/>
          </a:prstGeom>
          <a:solidFill>
            <a:srgbClr val="4D8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0" y="3383280"/>
            <a:ext cx="256032" cy="256032"/>
          </a:xfrm>
          <a:prstGeom prst="ellipse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0" y="3931920"/>
            <a:ext cx="228600" cy="228600"/>
          </a:xfrm>
          <a:prstGeom prst="ellipse">
            <a:avLst/>
          </a:prstGeom>
          <a:solidFill>
            <a:srgbClr val="85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149840" y="4754880"/>
            <a:ext cx="384048" cy="384048"/>
          </a:xfrm>
          <a:prstGeom prst="ellipse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20" y="2194560"/>
            <a:ext cx="164592" cy="164592"/>
          </a:xfrm>
          <a:prstGeom prst="ellipse">
            <a:avLst/>
          </a:prstGeom>
          <a:solidFill>
            <a:srgbClr val="F29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144000" y="1143000"/>
            <a:ext cx="1097280" cy="548640"/>
          </a:xfrm>
          <a:prstGeom prst="line">
            <a:avLst/>
          </a:prstGeom>
          <a:ln w="17780">
            <a:solidFill>
              <a:srgbClr val="4B6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875520" y="1737360"/>
            <a:ext cx="91440" cy="1188720"/>
          </a:xfrm>
          <a:prstGeom prst="line">
            <a:avLst/>
          </a:prstGeom>
          <a:ln w="17780">
            <a:solidFill>
              <a:srgbClr val="4B6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503920" y="2926080"/>
            <a:ext cx="1371600" cy="1097280"/>
          </a:xfrm>
          <a:prstGeom prst="line">
            <a:avLst/>
          </a:prstGeom>
          <a:ln w="17780">
            <a:solidFill>
              <a:srgbClr val="4B6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966960" y="2926080"/>
            <a:ext cx="1097280" cy="548640"/>
          </a:xfrm>
          <a:prstGeom prst="line">
            <a:avLst/>
          </a:prstGeom>
          <a:ln w="17780">
            <a:solidFill>
              <a:srgbClr val="4B6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03920" y="4023360"/>
            <a:ext cx="1737360" cy="914400"/>
          </a:xfrm>
          <a:prstGeom prst="line">
            <a:avLst/>
          </a:prstGeom>
          <a:ln w="17780">
            <a:solidFill>
              <a:srgbClr val="4B6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277856" y="3474720"/>
            <a:ext cx="822960" cy="1463040"/>
          </a:xfrm>
          <a:prstGeom prst="line">
            <a:avLst/>
          </a:prstGeom>
          <a:ln w="17780">
            <a:solidFill>
              <a:srgbClr val="4B6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229600" y="1097280"/>
            <a:ext cx="822960" cy="1188720"/>
          </a:xfrm>
          <a:prstGeom prst="line">
            <a:avLst/>
          </a:prstGeom>
          <a:ln w="17780">
            <a:solidFill>
              <a:srgbClr val="4B6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731520"/>
            <a:ext cx="68580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18A49D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417320"/>
            <a:ext cx="6949440" cy="1417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Colorectal Adenoma</a:t>
            </a:r>
            <a:br/>
            <a:r>
              <a:t>vs Normal Mucosa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154680"/>
            <a:ext cx="6675120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900" b="0">
                <a:solidFill>
                  <a:srgbClr val="CCDCEB"/>
                </a:solidFill>
                <a:latin typeface="Aptos"/>
              </a:defRPr>
            </a:pPr>
            <a:r>
              <a:rPr dirty="0"/>
              <a:t>Gene-Expression Classification with Machine 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193792"/>
            <a:ext cx="1143000" cy="73152"/>
          </a:xfrm>
          <a:prstGeom prst="rect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303520"/>
            <a:ext cx="6035040" cy="8229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A research prototype that studies gene-expression patterns to distinguish pre-cancerous adenomas from normal colon tissue.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09360"/>
            <a:ext cx="5486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3B8C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7B9355-87AC-3A98-E114-5BD0BF191D04}"/>
              </a:ext>
            </a:extLst>
          </p:cNvPr>
          <p:cNvSpPr txBox="1"/>
          <p:nvPr/>
        </p:nvSpPr>
        <p:spPr>
          <a:xfrm>
            <a:off x="8956548" y="3494115"/>
            <a:ext cx="22722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Aryan Khan(23BCB0115)</a:t>
            </a:r>
          </a:p>
          <a:p>
            <a:r>
              <a:rPr lang="en-IN" sz="1200" dirty="0">
                <a:solidFill>
                  <a:schemeClr val="bg1"/>
                </a:solidFill>
              </a:rPr>
              <a:t>Akash(23BCB0064)</a:t>
            </a:r>
          </a:p>
          <a:p>
            <a:r>
              <a:rPr lang="en-IN" sz="1200" dirty="0">
                <a:solidFill>
                  <a:schemeClr val="bg1"/>
                </a:solidFill>
              </a:rPr>
              <a:t>Kunal Sah(23BCB0111)</a:t>
            </a:r>
          </a:p>
          <a:p>
            <a:r>
              <a:rPr lang="en-IN" sz="1200" dirty="0">
                <a:solidFill>
                  <a:schemeClr val="bg1"/>
                </a:solidFill>
              </a:rPr>
              <a:t>Hardik Jalan(23BCB0019)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415580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8A49D"/>
                </a:solidFill>
                <a:latin typeface="Aptos"/>
              </a:defRPr>
            </a:pPr>
            <a:r>
              <a:rPr sz="1600" dirty="0"/>
              <a:t>01 • THE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3751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12223D"/>
                </a:solidFill>
                <a:latin typeface="Aptos"/>
              </a:defRPr>
            </a:pPr>
            <a:r>
              <a:rPr dirty="0"/>
              <a:t>Why study colorectal adenomas?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320" y="1483008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Adenomas are precancerous growths; understanding their molecular signals can support earlier research insights.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21992"/>
            <a:ext cx="3063239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Normal mucosa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1" y="2670048"/>
            <a:ext cx="3063238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Healthy colon lining has gene-activity patterns that reflect normal tissue function.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5740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221992"/>
            <a:ext cx="3063239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Adenoma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1" y="2670048"/>
            <a:ext cx="3063238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A precancerous polyp can show altered gene activity before invasive cancer develops.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5740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2221992"/>
            <a:ext cx="3063239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1" y="2670048"/>
            <a:ext cx="3047998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Expression data contain thousands of measurements, making meaningful patterns hard to inspect manually.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27586"/>
            <a:ext cx="10844784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100" b="1">
                <a:solidFill>
                  <a:srgbClr val="12223D"/>
                </a:solidFill>
                <a:latin typeface="Aptos"/>
              </a:defRPr>
            </a:pPr>
            <a:r>
              <a:rPr dirty="0"/>
              <a:t>Can a machine-learning model learn expression patterns that help distinguish adenoma samples from normal mucosa?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5F7084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704506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8A49D"/>
                </a:solidFill>
                <a:latin typeface="Aptos"/>
              </a:defRPr>
            </a:pPr>
            <a:r>
              <a:rPr sz="1600" dirty="0"/>
              <a:t>02 • PROJECT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12223D"/>
                </a:solidFill>
                <a:latin typeface="Aptos"/>
              </a:defRPr>
            </a:pPr>
            <a:r>
              <a:rPr dirty="0"/>
              <a:t>What is the project designed to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7340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Turn complex gene-expression measurements into an interpretable two-class prediction.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34290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30175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1. Compare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0049"/>
            <a:ext cx="301752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Use expression profiles from normal mucosa and adenoma samples.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57400"/>
            <a:ext cx="34290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221992"/>
            <a:ext cx="30175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2. 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70048"/>
            <a:ext cx="301752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Estimate which of the two groups a sample most resembles.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57400"/>
            <a:ext cx="34290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2221992"/>
            <a:ext cx="30175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3. 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670048"/>
            <a:ext cx="288036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Explore genes associated with the separation and connect them to biological pathways.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983480"/>
            <a:ext cx="10149840" cy="685800"/>
          </a:xfrm>
          <a:prstGeom prst="roundRect">
            <a:avLst/>
          </a:prstGeom>
          <a:solidFill>
            <a:srgbClr val="D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82470" y="5138928"/>
            <a:ext cx="7396577" cy="30469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12223D"/>
                </a:solidFill>
                <a:latin typeface="Aptos"/>
              </a:defRPr>
            </a:pPr>
            <a:r>
              <a:rPr lang="en-IN" dirty="0"/>
              <a:t>A</a:t>
            </a:r>
            <a:r>
              <a:rPr dirty="0" err="1"/>
              <a:t>denoma</a:t>
            </a:r>
            <a:r>
              <a:rPr dirty="0"/>
              <a:t> vs normal mucosa — not cancer staging, screening, or a clinical diagnosis.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5F7084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581541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8A49D"/>
                </a:solidFill>
                <a:latin typeface="Aptos"/>
              </a:defRPr>
            </a:pPr>
            <a:r>
              <a:rPr sz="1600" dirty="0"/>
              <a:t>03 • BIOLOGICAL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900358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12223D"/>
                </a:solidFill>
                <a:latin typeface="Aptos"/>
              </a:defRPr>
            </a:pPr>
            <a:r>
              <a:t>What is gene expression?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27795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Genes are instructions; gene expression reflects how actively those instructions are being used.</a:t>
            </a:r>
          </a:p>
        </p:txBody>
      </p:sp>
      <p:sp>
        <p:nvSpPr>
          <p:cNvPr id="5" name="Oval 4"/>
          <p:cNvSpPr/>
          <p:nvPr/>
        </p:nvSpPr>
        <p:spPr>
          <a:xfrm>
            <a:off x="1417320" y="2057400"/>
            <a:ext cx="822960" cy="822960"/>
          </a:xfrm>
          <a:prstGeom prst="ellipse">
            <a:avLst/>
          </a:prstGeom>
          <a:solidFill>
            <a:srgbClr val="4D8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999232"/>
            <a:ext cx="15544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700" b="1">
                <a:solidFill>
                  <a:srgbClr val="12223D"/>
                </a:solidFill>
                <a:latin typeface="Aptos"/>
              </a:defRPr>
            </a:pPr>
            <a:r>
              <a:t>DNA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01568"/>
            <a:ext cx="2103120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5F7084"/>
                </a:solidFill>
                <a:latin typeface="Aptos"/>
              </a:defRPr>
            </a:pPr>
            <a:r>
              <a:t>Genetic instructions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2468880"/>
            <a:ext cx="2423159" cy="0"/>
          </a:xfrm>
          <a:prstGeom prst="line">
            <a:avLst/>
          </a:prstGeom>
          <a:ln w="25400">
            <a:solidFill>
              <a:srgbClr val="A5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937759" y="2057400"/>
            <a:ext cx="822960" cy="822960"/>
          </a:xfrm>
          <a:prstGeom prst="ellipse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999232"/>
            <a:ext cx="15544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700" b="1">
                <a:solidFill>
                  <a:srgbClr val="12223D"/>
                </a:solidFill>
                <a:latin typeface="Aptos"/>
              </a:defRPr>
            </a:pPr>
            <a:r>
              <a:t>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3401568"/>
            <a:ext cx="2103120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5F7084"/>
                </a:solidFill>
                <a:latin typeface="Aptos"/>
              </a:defRPr>
            </a:pPr>
            <a:r>
              <a:t>Expression signal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59" y="2468880"/>
            <a:ext cx="2423160" cy="0"/>
          </a:xfrm>
          <a:prstGeom prst="line">
            <a:avLst/>
          </a:prstGeom>
          <a:ln w="25400">
            <a:solidFill>
              <a:srgbClr val="A5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458200" y="2057400"/>
            <a:ext cx="822960" cy="822960"/>
          </a:xfrm>
          <a:prstGeom prst="ellipse">
            <a:avLst/>
          </a:prstGeom>
          <a:solidFill>
            <a:srgbClr val="85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2999232"/>
            <a:ext cx="15544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700" b="1">
                <a:solidFill>
                  <a:srgbClr val="12223D"/>
                </a:solidFill>
                <a:latin typeface="Aptos"/>
              </a:defRPr>
            </a:pPr>
            <a:r>
              <a:t>Measured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3401568"/>
            <a:ext cx="2103120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5F7084"/>
                </a:solidFill>
                <a:latin typeface="Aptos"/>
              </a:defRPr>
            </a:pPr>
            <a:r>
              <a:t>Thousands of gene-level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0241280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800" b="1">
                <a:solidFill>
                  <a:srgbClr val="12223D"/>
                </a:solidFill>
                <a:latin typeface="Aptos"/>
              </a:defRPr>
            </a:pPr>
            <a:r>
              <a:t>The project looks for patterns across these measurements that differ between adenoma and normal samples.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5F7084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275751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8A49D"/>
                </a:solidFill>
                <a:latin typeface="Aptos"/>
              </a:defRPr>
            </a:pPr>
            <a:r>
              <a:rPr sz="1600" dirty="0"/>
              <a:t>04 •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43536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12223D"/>
                </a:solidFill>
                <a:latin typeface="Aptos"/>
              </a:defRPr>
            </a:pPr>
            <a:r>
              <a:rPr dirty="0"/>
              <a:t>How the project works —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74845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A high-level view of the journey from public gene-expression data to a prediction and biological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331720"/>
            <a:ext cx="16916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3272" y="2514600"/>
            <a:ext cx="420624" cy="420624"/>
          </a:xfrm>
          <a:prstGeom prst="ellipse">
            <a:avLst/>
          </a:prstGeom>
          <a:solidFill>
            <a:srgbClr val="4D8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3044952"/>
            <a:ext cx="1472184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12223D"/>
                </a:solidFill>
                <a:latin typeface="Aptos"/>
              </a:defRPr>
            </a:pPr>
            <a:r>
              <a:t>Public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3383279"/>
            <a:ext cx="1472184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F7084"/>
                </a:solidFill>
                <a:latin typeface="Aptos"/>
              </a:defRPr>
            </a:pPr>
            <a:r>
              <a:t>Expression profiles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3081527"/>
            <a:ext cx="228600" cy="0"/>
          </a:xfrm>
          <a:prstGeom prst="line">
            <a:avLst/>
          </a:prstGeom>
          <a:ln w="19050">
            <a:solidFill>
              <a:srgbClr val="18A4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59152" y="2331720"/>
            <a:ext cx="16916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980944" y="2514600"/>
            <a:ext cx="420624" cy="420624"/>
          </a:xfrm>
          <a:prstGeom prst="ellipse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3044952"/>
            <a:ext cx="1472184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12223D"/>
                </a:solidFill>
                <a:latin typeface="Aptos"/>
              </a:defRPr>
            </a:pPr>
            <a:r>
              <a:t>Align genes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383279"/>
            <a:ext cx="1472184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F7084"/>
                </a:solidFill>
                <a:latin typeface="Aptos"/>
              </a:defRPr>
            </a:pPr>
            <a:r>
              <a:t>Keep comparable genes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50791" y="3081527"/>
            <a:ext cx="228601" cy="0"/>
          </a:xfrm>
          <a:prstGeom prst="line">
            <a:avLst/>
          </a:prstGeom>
          <a:ln w="19050">
            <a:solidFill>
              <a:srgbClr val="18A4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06824" y="2331720"/>
            <a:ext cx="16916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928616" y="2514600"/>
            <a:ext cx="420624" cy="420624"/>
          </a:xfrm>
          <a:prstGeom prst="ellipse">
            <a:avLst/>
          </a:prstGeom>
          <a:solidFill>
            <a:srgbClr val="F29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6552" y="3044952"/>
            <a:ext cx="1472184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12223D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383279"/>
            <a:ext cx="1472184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F7084"/>
                </a:solidFill>
                <a:latin typeface="Aptos"/>
              </a:defRPr>
            </a:pPr>
            <a:r>
              <a:t>Make scales more comparable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8464" y="3081527"/>
            <a:ext cx="228600" cy="0"/>
          </a:xfrm>
          <a:prstGeom prst="line">
            <a:avLst/>
          </a:prstGeom>
          <a:ln w="19050">
            <a:solidFill>
              <a:srgbClr val="18A4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54496" y="2331720"/>
            <a:ext cx="16916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76288" y="2514600"/>
            <a:ext cx="420624" cy="420624"/>
          </a:xfrm>
          <a:prstGeom prst="ellipse">
            <a:avLst/>
          </a:prstGeom>
          <a:solidFill>
            <a:srgbClr val="85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3044952"/>
            <a:ext cx="1472184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12223D"/>
                </a:solidFill>
                <a:latin typeface="Aptos"/>
              </a:defRPr>
            </a:pPr>
            <a:r>
              <a:t>Learn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383279"/>
            <a:ext cx="1472184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F7084"/>
                </a:solidFill>
                <a:latin typeface="Aptos"/>
              </a:defRPr>
            </a:pPr>
            <a:r>
              <a:t>Train a classifier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46136" y="3081527"/>
            <a:ext cx="228600" cy="0"/>
          </a:xfrm>
          <a:prstGeom prst="line">
            <a:avLst/>
          </a:prstGeom>
          <a:ln w="19050">
            <a:solidFill>
              <a:srgbClr val="18A4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02167" y="2331720"/>
            <a:ext cx="16916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823959" y="2514600"/>
            <a:ext cx="420624" cy="420624"/>
          </a:xfrm>
          <a:prstGeom prst="ellipse">
            <a:avLst/>
          </a:prstGeom>
          <a:solidFill>
            <a:srgbClr val="419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11895" y="3044952"/>
            <a:ext cx="1472184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12223D"/>
                </a:solidFill>
                <a:latin typeface="Aptos"/>
              </a:defRPr>
            </a:pPr>
            <a:r>
              <a:t>Predict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5" y="3383279"/>
            <a:ext cx="1472184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F7084"/>
                </a:solidFill>
                <a:latin typeface="Aptos"/>
              </a:defRPr>
            </a:pPr>
            <a:r>
              <a:t>Adenoma / Normal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93807" y="3081527"/>
            <a:ext cx="228600" cy="0"/>
          </a:xfrm>
          <a:prstGeom prst="line">
            <a:avLst/>
          </a:prstGeom>
          <a:ln w="19050">
            <a:solidFill>
              <a:srgbClr val="18A4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149839" y="2331720"/>
            <a:ext cx="16916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771631" y="2514600"/>
            <a:ext cx="420624" cy="420624"/>
          </a:xfrm>
          <a:prstGeom prst="ellipse">
            <a:avLst/>
          </a:prstGeom>
          <a:solidFill>
            <a:srgbClr val="CE5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59567" y="3044952"/>
            <a:ext cx="1472184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12223D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9567" y="3383279"/>
            <a:ext cx="1472184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F7084"/>
                </a:solidFill>
                <a:latin typeface="Aptos"/>
              </a:defRPr>
            </a:pPr>
            <a:r>
              <a:t>Genes &amp; pathways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" y="4709160"/>
            <a:ext cx="10241280" cy="731520"/>
          </a:xfrm>
          <a:prstGeom prst="round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88720" y="4892040"/>
            <a:ext cx="97840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Core function: classification support + biological interpretation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5F7084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53979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8A49D"/>
                </a:solidFill>
                <a:latin typeface="Aptos"/>
              </a:defRPr>
            </a:pPr>
            <a:r>
              <a:rPr sz="1600" dirty="0"/>
              <a:t>05 •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09244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12223D"/>
                </a:solidFill>
                <a:latin typeface="Aptos"/>
              </a:defRPr>
            </a:pPr>
            <a:r>
              <a:rPr dirty="0"/>
              <a:t>What information does it use?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26464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The project uses existing public research datasets rather than collecting new patient samples.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663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82296" cy="2468880"/>
          </a:xfrm>
          <a:prstGeom prst="rect">
            <a:avLst/>
          </a:prstGeom>
          <a:solidFill>
            <a:srgbClr val="4D8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47548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Training dataset • GSE8671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24328"/>
            <a:ext cx="475488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64 samples from 32 patients, including paired normal mucosa and adenoma samples. Measured using an Affymetrix microarray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1663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2011680"/>
            <a:ext cx="82296" cy="2468880"/>
          </a:xfrm>
          <a:prstGeom prst="rect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76272"/>
            <a:ext cx="47548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Independent dataset • GSE50114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24328"/>
            <a:ext cx="466344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46 samples (37 adenoma and 9 normal) measured on a different Agilent microarray platform. Used as an external test cohort.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1693" y="4983480"/>
            <a:ext cx="10166694" cy="5970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700" b="1">
                <a:solidFill>
                  <a:srgbClr val="12223D"/>
                </a:solidFill>
                <a:latin typeface="Aptos"/>
              </a:defRPr>
            </a:pPr>
            <a:r>
              <a:rPr dirty="0">
                <a:solidFill>
                  <a:srgbClr val="FF0000"/>
                </a:solidFill>
              </a:rPr>
              <a:t>Why two datasets?</a:t>
            </a:r>
            <a:endParaRPr lang="en-IN" dirty="0">
              <a:solidFill>
                <a:srgbClr val="FF0000"/>
              </a:solidFill>
            </a:endParaRPr>
          </a:p>
          <a:p>
            <a:pPr algn="ctr">
              <a:defRPr sz="1700" b="1">
                <a:solidFill>
                  <a:srgbClr val="12223D"/>
                </a:solidFill>
                <a:latin typeface="Aptos"/>
              </a:defRPr>
            </a:pPr>
            <a:r>
              <a:rPr dirty="0"/>
              <a:t> To assess whether patterns learned in one study can transfer to data collected on a different platform.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5F7084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47354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8A49D"/>
                </a:solidFill>
                <a:latin typeface="Aptos"/>
              </a:defRPr>
            </a:pPr>
            <a:r>
              <a:rPr sz="1600" dirty="0"/>
              <a:t>06 • PREPARING COMPARABLE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12223D"/>
                </a:solidFill>
                <a:latin typeface="Aptos"/>
              </a:defRPr>
            </a:pPr>
            <a:r>
              <a:t>Why does data alignment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Different platforms can measure the same biology on different numerical scales.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3832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30552"/>
            <a:ext cx="297180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Different probes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2971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Each platform may use different probes or identifiers for genes.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65960"/>
            <a:ext cx="33832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130552"/>
            <a:ext cx="297180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Different scales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78608"/>
            <a:ext cx="2971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Raw intensity values and log-ratios are not directly comparable.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65960"/>
            <a:ext cx="33832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2130552"/>
            <a:ext cx="297180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Shared gene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578608"/>
            <a:ext cx="295656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The workflow maps identifiers and retains genes represented in both datasets.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800600"/>
            <a:ext cx="10058400" cy="731520"/>
          </a:xfrm>
          <a:prstGeom prst="roundRect">
            <a:avLst/>
          </a:prstGeom>
          <a:solidFill>
            <a:srgbClr val="D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1378" y="4983480"/>
            <a:ext cx="8598765" cy="30469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12223D"/>
                </a:solidFill>
                <a:latin typeface="Aptos"/>
              </a:defRPr>
            </a:pPr>
            <a:r>
              <a:rPr lang="en-IN" dirty="0"/>
              <a:t>The p</a:t>
            </a:r>
            <a:r>
              <a:rPr dirty="0" err="1"/>
              <a:t>urpose</a:t>
            </a:r>
            <a:r>
              <a:rPr lang="en-IN" dirty="0"/>
              <a:t> is to </a:t>
            </a:r>
            <a:r>
              <a:rPr dirty="0"/>
              <a:t>reduce technical mismatch so the model can focus more on biological patterns.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5F7084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232312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8A49D"/>
                </a:solidFill>
                <a:latin typeface="Aptos"/>
              </a:defRPr>
            </a:pPr>
            <a:r>
              <a:rPr sz="1600" dirty="0"/>
              <a:t>07 • MAKING MEASUREMENTS COMPARABLE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12223D"/>
                </a:solidFill>
                <a:latin typeface="Aptos"/>
              </a:defRPr>
            </a:pPr>
            <a:r>
              <a:t>What does normalization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It changes the scale of measurements so genes and datasets can be compared more fairly.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3891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5F7084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920240"/>
            <a:ext cx="43891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5F7084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44805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0" y="2377440"/>
            <a:ext cx="44805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34440" y="2468880"/>
            <a:ext cx="438912" cy="1600200"/>
          </a:xfrm>
          <a:prstGeom prst="rect">
            <a:avLst/>
          </a:prstGeom>
          <a:solidFill>
            <a:srgbClr val="4D8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48840" y="3657600"/>
            <a:ext cx="438912" cy="411480"/>
          </a:xfrm>
          <a:prstGeom prst="rect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63240" y="2834640"/>
            <a:ext cx="438912" cy="1234440"/>
          </a:xfrm>
          <a:prstGeom prst="rect">
            <a:avLst/>
          </a:prstGeom>
          <a:solidFill>
            <a:srgbClr val="F29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77639" y="3429000"/>
            <a:ext cx="438912" cy="640080"/>
          </a:xfrm>
          <a:prstGeom prst="rect">
            <a:avLst/>
          </a:prstGeom>
          <a:solidFill>
            <a:srgbClr val="85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0" y="3063240"/>
            <a:ext cx="438912" cy="1005840"/>
          </a:xfrm>
          <a:prstGeom prst="rect">
            <a:avLst/>
          </a:prstGeom>
          <a:solidFill>
            <a:srgbClr val="4D8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3337560"/>
            <a:ext cx="438912" cy="731520"/>
          </a:xfrm>
          <a:prstGeom prst="rect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0" y="2926080"/>
            <a:ext cx="438912" cy="1143000"/>
          </a:xfrm>
          <a:prstGeom prst="rect">
            <a:avLst/>
          </a:prstGeom>
          <a:solidFill>
            <a:srgbClr val="F29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58400" y="3200400"/>
            <a:ext cx="438912" cy="868680"/>
          </a:xfrm>
          <a:prstGeom prst="rect">
            <a:avLst/>
          </a:prstGeom>
          <a:solidFill>
            <a:srgbClr val="85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553712"/>
            <a:ext cx="420624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5F7084"/>
                </a:solidFill>
                <a:latin typeface="Aptos"/>
              </a:defRPr>
            </a:pPr>
            <a:r>
              <a:t>Values may be on very different scales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553712"/>
            <a:ext cx="420624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5F7084"/>
                </a:solidFill>
                <a:latin typeface="Aptos"/>
              </a:defRPr>
            </a:pPr>
            <a:r>
              <a:t>Values are rescaled within each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7463" y="5303520"/>
            <a:ext cx="7686591" cy="28931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12223D"/>
                </a:solidFill>
                <a:latin typeface="Aptos"/>
              </a:defRPr>
            </a:pPr>
            <a:r>
              <a:rPr lang="en-IN" dirty="0"/>
              <a:t>T</a:t>
            </a:r>
            <a:r>
              <a:rPr dirty="0"/>
              <a:t>his makes cohort-level patterns easier to compare; it does not remove every source of bias.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5F7084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057551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8A49D"/>
                </a:solidFill>
                <a:latin typeface="Aptos"/>
              </a:defRPr>
            </a:pPr>
            <a:r>
              <a:rPr sz="1600" dirty="0"/>
              <a:t>08 •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12223D"/>
                </a:solidFill>
                <a:latin typeface="Aptos"/>
              </a:defRPr>
            </a:pPr>
            <a:r>
              <a:t>How does the model make a prediction?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The classifier learns combinations of gene-expression signals associated with the two sample groups.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2240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87168"/>
            <a:ext cx="1874519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12223D"/>
                </a:solidFill>
                <a:latin typeface="Aptos"/>
              </a:defRPr>
            </a:pPr>
            <a:r>
              <a:t>Expression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9232"/>
            <a:ext cx="1874519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5F7084"/>
                </a:solidFill>
                <a:latin typeface="Aptos"/>
              </a:defRPr>
            </a:pPr>
            <a:r>
              <a:t>Many gene values</a:t>
            </a:r>
            <a:br/>
            <a:r>
              <a:t>for one sample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3063240"/>
            <a:ext cx="777239" cy="0"/>
          </a:xfrm>
          <a:prstGeom prst="line">
            <a:avLst/>
          </a:prstGeom>
          <a:ln w="25400">
            <a:solidFill>
              <a:srgbClr val="18A4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2148840"/>
            <a:ext cx="2423160" cy="1874519"/>
          </a:xfrm>
          <a:prstGeom prst="roundRect">
            <a:avLst/>
          </a:prstGeom>
          <a:solidFill>
            <a:srgbClr val="DD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7639" y="2487168"/>
            <a:ext cx="196596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12223D"/>
                </a:solidFill>
                <a:latin typeface="Aptos"/>
              </a:defRPr>
            </a:pPr>
            <a:r>
              <a:t>Learned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999232"/>
            <a:ext cx="1965960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5F7084"/>
                </a:solidFill>
                <a:latin typeface="Aptos"/>
              </a:defRPr>
            </a:pPr>
            <a:r>
              <a:t>Weighted signals</a:t>
            </a:r>
            <a:br/>
            <a:r>
              <a:t>from selected genes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72200" y="3063240"/>
            <a:ext cx="731520" cy="0"/>
          </a:xfrm>
          <a:prstGeom prst="line">
            <a:avLst/>
          </a:prstGeom>
          <a:ln w="25400">
            <a:solidFill>
              <a:srgbClr val="18A4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03720" y="2148840"/>
            <a:ext cx="18288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59168" y="2514600"/>
            <a:ext cx="150876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12223D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3017520"/>
            <a:ext cx="15087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5F7084"/>
                </a:solidFill>
                <a:latin typeface="Aptos"/>
              </a:defRPr>
            </a:pPr>
            <a:r>
              <a:t>Estimated</a:t>
            </a:r>
            <a:br/>
            <a:r>
              <a:t>probability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32520" y="3063240"/>
            <a:ext cx="502920" cy="0"/>
          </a:xfrm>
          <a:prstGeom prst="line">
            <a:avLst/>
          </a:prstGeom>
          <a:ln w="25400">
            <a:solidFill>
              <a:srgbClr val="18A4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35440" y="2148840"/>
            <a:ext cx="2148840" cy="1874519"/>
          </a:xfrm>
          <a:prstGeom prst="round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2514600"/>
            <a:ext cx="178308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Predicted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017520"/>
            <a:ext cx="178308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Adenoma or</a:t>
            </a:r>
            <a:br/>
            <a:r>
              <a:t>Normal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00600"/>
            <a:ext cx="10241280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CE5357"/>
                </a:solidFill>
                <a:latin typeface="Aptos"/>
              </a:defRPr>
            </a:pPr>
            <a:r>
              <a:t>The output is a model-based estimate — it is not a definitive statement about an individual’s health.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5F7084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480166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8A49D"/>
                </a:solidFill>
                <a:latin typeface="Aptos"/>
              </a:defRPr>
            </a:pPr>
            <a:r>
              <a:rPr sz="1600" dirty="0"/>
              <a:t>09 • PROJECT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12223D"/>
                </a:solidFill>
                <a:latin typeface="Aptos"/>
              </a:defRPr>
            </a:pPr>
            <a:r>
              <a:t>What can the project provide?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The project is organized around summary, data context, model evaluation and exploration.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4747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3063239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2223D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1" y="2487168"/>
            <a:ext cx="3063238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5F7084"/>
                </a:solidFill>
                <a:latin typeface="Aptos"/>
              </a:defRPr>
            </a:pPr>
            <a:r>
              <a:rPr dirty="0"/>
              <a:t>A concise overview of the classification task and key message.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74519"/>
            <a:ext cx="34747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039112"/>
            <a:ext cx="3063239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2223D"/>
                </a:solidFill>
                <a:latin typeface="Aptos"/>
              </a:defRPr>
            </a:pPr>
            <a:r>
              <a:t>Data &amp;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1" y="2487168"/>
            <a:ext cx="3063238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5F7084"/>
                </a:solidFill>
                <a:latin typeface="Aptos"/>
              </a:defRPr>
            </a:pPr>
            <a:r>
              <a:rPr dirty="0"/>
              <a:t>A clear explanation of the datasets and conceptual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874519"/>
            <a:ext cx="34747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2039112"/>
            <a:ext cx="3063239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2223D"/>
                </a:solidFill>
                <a:latin typeface="Aptos"/>
              </a:defRPr>
            </a:pPr>
            <a:r>
              <a:t>Model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1" y="2487167"/>
            <a:ext cx="3063238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5F7084"/>
                </a:solidFill>
                <a:latin typeface="Aptos"/>
              </a:defRPr>
            </a:pPr>
            <a:r>
              <a:rPr dirty="0"/>
              <a:t>Performance measures and visual summaries of predictions.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40479"/>
            <a:ext cx="34747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05071"/>
            <a:ext cx="3063239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2223D"/>
                </a:solidFill>
                <a:latin typeface="Aptos"/>
              </a:defRPr>
            </a:pPr>
            <a:r>
              <a:t>Prediction explorer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1" y="4453126"/>
            <a:ext cx="3063238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5F7084"/>
                </a:solidFill>
                <a:latin typeface="Aptos"/>
              </a:defRPr>
            </a:pPr>
            <a:r>
              <a:rPr dirty="0"/>
              <a:t>Browse sample-level predicted groups and compare with known labels.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840479"/>
            <a:ext cx="34747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4005071"/>
            <a:ext cx="3063239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2223D"/>
                </a:solidFill>
                <a:latin typeface="Aptos"/>
              </a:defRPr>
            </a:pPr>
            <a:r>
              <a:t>Gene exploration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1" y="4453126"/>
            <a:ext cx="3063238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5F7084"/>
                </a:solidFill>
                <a:latin typeface="Aptos"/>
              </a:defRPr>
            </a:pPr>
            <a:r>
              <a:rPr dirty="0"/>
              <a:t>View selected genes that contribute to the model’s separation.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840479"/>
            <a:ext cx="34747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0" y="4005071"/>
            <a:ext cx="3063239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2223D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1" y="4453127"/>
            <a:ext cx="3063238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5F7084"/>
                </a:solidFill>
                <a:latin typeface="Aptos"/>
              </a:defRPr>
            </a:pPr>
            <a:r>
              <a:rPr dirty="0"/>
              <a:t>Keep the interpretation grounded in sample size and validation constraints.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5F708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98467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8A49D"/>
                </a:solidFill>
                <a:latin typeface="Aptos"/>
              </a:defRPr>
            </a:pPr>
            <a:r>
              <a:rPr sz="1600" dirty="0"/>
              <a:t>10 • BIOLOGICAL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12223D"/>
                </a:solidFill>
                <a:latin typeface="Aptos"/>
              </a:defRPr>
            </a:pPr>
            <a:r>
              <a:t>Why look at genes and pathways?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A prediction is more useful for research when the signals can be connected to biological knowledge.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297180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Selected genes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624328"/>
            <a:ext cx="2932707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The model identifies a subset of genes whose expression patterns help distinguish the groups.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176272"/>
            <a:ext cx="297180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Pathway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24328"/>
            <a:ext cx="297180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Functional enrichment can group genes into biological processes and pathways for follow-up.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38328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2176272"/>
            <a:ext cx="297180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Research hypotheses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624328"/>
            <a:ext cx="2956561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These patterns can suggest candidates for further study, but do not prove causation.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800600"/>
            <a:ext cx="9966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956048"/>
            <a:ext cx="94183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12223D"/>
                </a:solidFill>
                <a:latin typeface="Aptos"/>
              </a:defRPr>
            </a:pPr>
            <a:r>
              <a:t>Examples highlighted in the project include Wnt-pathway-associated genes such as AXIN2 and RNF43.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5F708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371098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8A49D"/>
                </a:solidFill>
                <a:latin typeface="Aptos"/>
              </a:defRPr>
            </a:pPr>
            <a:r>
              <a:rPr sz="1600" dirty="0"/>
              <a:t>11 • TRUSTWORTHINESS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12223D"/>
                </a:solidFill>
                <a:latin typeface="Aptos"/>
              </a:defRPr>
            </a:pPr>
            <a:r>
              <a:t>Why test on an independent dataset?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A model can perform well on familiar data but struggle when the data come from another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49377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21992"/>
            <a:ext cx="45262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Internal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70048"/>
            <a:ext cx="452628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rPr dirty="0"/>
              <a:t>Tests the model using held-out folds from the training study. Patient pairs are kept together to reduce leakage.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057400"/>
            <a:ext cx="49377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221992"/>
            <a:ext cx="45262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2223D"/>
                </a:solidFill>
                <a:latin typeface="Aptos"/>
              </a:defRPr>
            </a:pPr>
            <a:r>
              <a:t>External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70048"/>
            <a:ext cx="438912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Tests whether the learned pattern transfers to a separate cohort measured using another platform.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818" y="4846320"/>
            <a:ext cx="10401887" cy="35086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800" b="1">
                <a:solidFill>
                  <a:srgbClr val="12223D"/>
                </a:solidFill>
                <a:latin typeface="Aptos"/>
              </a:defRPr>
            </a:pPr>
            <a:r>
              <a:rPr dirty="0"/>
              <a:t>The key lesson</a:t>
            </a:r>
            <a:r>
              <a:rPr lang="en-IN" dirty="0"/>
              <a:t> is a </a:t>
            </a:r>
            <a:r>
              <a:rPr dirty="0"/>
              <a:t>strong internal performance alone is not enough; external validation is essential.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5F708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53959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8A49D"/>
                </a:solidFill>
                <a:latin typeface="Aptos"/>
              </a:defRPr>
            </a:pPr>
            <a:r>
              <a:rPr sz="1600" dirty="0"/>
              <a:t>12 • RESPONSIBLE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12223D"/>
                </a:solidFill>
                <a:latin typeface="Aptos"/>
              </a:defRPr>
            </a:pPr>
            <a:r>
              <a:t>What are the boundaries of this project?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The project is a research prototype, and its output must be interpreted with care.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901952"/>
            <a:ext cx="274320" cy="274320"/>
          </a:xfrm>
          <a:prstGeom prst="ellipse">
            <a:avLst/>
          </a:prstGeom>
          <a:solidFill>
            <a:srgbClr val="F29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1828800"/>
            <a:ext cx="24688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12223D"/>
                </a:solidFill>
                <a:latin typeface="Aptos"/>
              </a:defRPr>
            </a:pPr>
            <a:r>
              <a:t>Small cohorts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740664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64 training samples and 46 external samples.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660904"/>
            <a:ext cx="274320" cy="274320"/>
          </a:xfrm>
          <a:prstGeom prst="ellipse">
            <a:avLst/>
          </a:prstGeom>
          <a:solidFill>
            <a:srgbClr val="CE5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2587752"/>
            <a:ext cx="24688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12223D"/>
                </a:solidFill>
                <a:latin typeface="Aptos"/>
              </a:defRPr>
            </a:pPr>
            <a:r>
              <a:t>Imbalanced external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87752"/>
            <a:ext cx="740664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Only 9 normal samples; specificity is estimated from a small group.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419856"/>
            <a:ext cx="274320" cy="274320"/>
          </a:xfrm>
          <a:prstGeom prst="ellipse">
            <a:avLst/>
          </a:prstGeom>
          <a:solidFill>
            <a:srgbClr val="4D8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346704"/>
            <a:ext cx="24688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12223D"/>
                </a:solidFill>
                <a:latin typeface="Aptos"/>
              </a:defRPr>
            </a:pPr>
            <a:r>
              <a:t>Platform dependence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346704"/>
            <a:ext cx="740664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Current normalization uses statistics from each dataset.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178808"/>
            <a:ext cx="274320" cy="274320"/>
          </a:xfrm>
          <a:prstGeom prst="ellipse">
            <a:avLst/>
          </a:prstGeom>
          <a:solidFill>
            <a:srgbClr val="85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4105656"/>
            <a:ext cx="24688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12223D"/>
                </a:solidFill>
                <a:latin typeface="Aptos"/>
              </a:defRPr>
            </a:pPr>
            <a:r>
              <a:t>Narrow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05656"/>
            <a:ext cx="740664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Separates adenoma from normal mucosa; it does not stage cancer.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937760"/>
            <a:ext cx="274320" cy="274320"/>
          </a:xfrm>
          <a:prstGeom prst="ellipse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25880" y="4864608"/>
            <a:ext cx="24688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12223D"/>
                </a:solidFill>
                <a:latin typeface="Aptos"/>
              </a:defRPr>
            </a:pPr>
            <a:r>
              <a:t>Not a clinical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864608"/>
            <a:ext cx="740664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No prospective clinical validation or single-patient deployment.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5F708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0A49D"/>
                </a:solidFill>
                <a:latin typeface="Aptos"/>
              </a:rPr>
              <a:t>13 •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3233F"/>
                </a:solidFill>
                <a:latin typeface="Aptos"/>
              </a:rPr>
              <a:t>What did we implement?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4D617A"/>
                </a:solidFill>
                <a:latin typeface="Aptos"/>
              </a:rPr>
              <a:t>The project combines a probe-level classification pipeline, a harmonized gene-level validation pipeline, and a separate R bioinformatics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4D617A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3520440" cy="1847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837943"/>
            <a:ext cx="54864" cy="1737360"/>
          </a:xfrm>
          <a:prstGeom prst="rect">
            <a:avLst/>
          </a:prstGeom>
          <a:solidFill>
            <a:srgbClr val="00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29384"/>
            <a:ext cx="31729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3233F"/>
                </a:solidFill>
                <a:latin typeface="Aptos"/>
              </a:rPr>
              <a:t>Three classifiers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95144"/>
            <a:ext cx="3172968" cy="12252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D617A"/>
                </a:solidFill>
                <a:latin typeface="Aptos"/>
              </a:rPr>
              <a:t>• Logistic Regression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D617A"/>
                </a:solidFill>
                <a:latin typeface="Aptos"/>
              </a:rPr>
              <a:t>• Linear Support Vector Machine (SVM)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D617A"/>
                </a:solidFill>
                <a:latin typeface="Aptos"/>
              </a:rPr>
              <a:t>• Random Forest (300 trees)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783080"/>
            <a:ext cx="3520440" cy="1847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837943"/>
            <a:ext cx="54864" cy="1737360"/>
          </a:xfrm>
          <a:prstGeom prst="rect">
            <a:avLst/>
          </a:prstGeom>
          <a:solidFill>
            <a:srgbClr val="4B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929384"/>
            <a:ext cx="31729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3233F"/>
                </a:solidFill>
                <a:latin typeface="Aptos"/>
              </a:rPr>
              <a:t>Feature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295144"/>
            <a:ext cx="3172968" cy="12252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D617A"/>
                </a:solidFill>
                <a:latin typeface="Aptos"/>
              </a:rPr>
              <a:t>• ANOVA F-test (f_classif)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D617A"/>
                </a:solidFill>
                <a:latin typeface="Aptos"/>
              </a:rPr>
              <a:t>• Earlier probe-level pipeline: top 100 features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D617A"/>
                </a:solidFill>
                <a:latin typeface="Aptos"/>
              </a:rPr>
              <a:t>• Harmonized gene-level pipeline: top 50 genes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D617A"/>
                </a:solidFill>
                <a:latin typeface="Aptos"/>
              </a:rPr>
              <a:t>• Selection fitted inside each CV training fold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520440" cy="1847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37943"/>
            <a:ext cx="54864" cy="1737360"/>
          </a:xfrm>
          <a:prstGeom prst="rect">
            <a:avLst/>
          </a:prstGeom>
          <a:solidFill>
            <a:srgbClr val="13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29384"/>
            <a:ext cx="31729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3233F"/>
                </a:solidFill>
                <a:latin typeface="Aptos"/>
              </a:rPr>
              <a:t>Training safeguards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95144"/>
            <a:ext cx="3172968" cy="12252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D617A"/>
                </a:solidFill>
                <a:latin typeface="Aptos"/>
              </a:rPr>
              <a:t>• Median imputation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D617A"/>
                </a:solidFill>
                <a:latin typeface="Aptos"/>
              </a:rPr>
              <a:t>• Scaling for linear models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D617A"/>
                </a:solidFill>
                <a:latin typeface="Aptos"/>
              </a:rPr>
              <a:t>• Patient-grouped, stratified 5-fold CV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D617A"/>
                </a:solidFill>
                <a:latin typeface="Aptos"/>
              </a:rPr>
              <a:t>• Paired samples from one patient kept in the same fold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886200"/>
            <a:ext cx="10972800" cy="1371600"/>
          </a:xfrm>
          <a:prstGeom prst="roundRect">
            <a:avLst>
              <a:gd name="adj" fmla="val 12000"/>
            </a:avLst>
          </a:prstGeom>
          <a:solidFill>
            <a:srgbClr val="DCF6F0"/>
          </a:solidFill>
          <a:ln w="10160">
            <a:solidFill>
              <a:srgbClr val="DC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096512"/>
            <a:ext cx="242316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3233F"/>
                </a:solidFill>
                <a:latin typeface="Aptos"/>
              </a:rPr>
              <a:t>Why ANOVA F-scores?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4041648"/>
            <a:ext cx="8046720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0">
                <a:solidFill>
                  <a:srgbClr val="4D617A"/>
                </a:solidFill>
                <a:latin typeface="Aptos"/>
              </a:rPr>
              <a:t>Each probe is ranked by how strongly its group means differ relative to within-group variation. SelectKBest keeps the highest-ranked k features. The top probe in the exploratory full-data ranking was 206134_at (F = 724.55; p = 6.58 × 10⁻³⁶). These exploratory scores are not the fold-specific scores used during cross-validation.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623560"/>
            <a:ext cx="106070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DC4B52"/>
                </a:solidFill>
                <a:latin typeface="Aptos"/>
              </a:rPr>
              <a:t>Important: k=100 and k=50 belong to different pipeline versions; do not describe them as one identical model configuration.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0A49D"/>
                </a:solidFill>
                <a:latin typeface="Aptos"/>
              </a:rPr>
              <a:t>14 • R BIOINFORMATICS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3233F"/>
                </a:solidFill>
                <a:latin typeface="Aptos"/>
              </a:rPr>
              <a:t>What did the R analysis find?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4D617A"/>
                </a:solidFill>
                <a:latin typeface="Aptos"/>
              </a:rPr>
              <a:t>Script: scripts/deg_go_kegg.R • Dataset: GSE8671 • Contrast: Adenoma versus Normal mucosa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4D617A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10512"/>
            <a:ext cx="257860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947672"/>
            <a:ext cx="2331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00A49D"/>
                </a:solidFill>
                <a:latin typeface="Aptos"/>
              </a:rPr>
              <a:t>54,675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35915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4D617A"/>
                </a:solidFill>
                <a:latin typeface="Aptos"/>
              </a:rPr>
              <a:t>probes analyzed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810512"/>
            <a:ext cx="257860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947672"/>
            <a:ext cx="2331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00A49D"/>
                </a:solidFill>
                <a:latin typeface="Aptos"/>
              </a:rPr>
              <a:t>5,508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2377440"/>
            <a:ext cx="235915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4D617A"/>
                </a:solidFill>
                <a:latin typeface="Aptos"/>
              </a:rPr>
              <a:t>significant probes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810512"/>
            <a:ext cx="257860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1947672"/>
            <a:ext cx="2331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00A49D"/>
                </a:solidFill>
                <a:latin typeface="Aptos"/>
              </a:rPr>
              <a:t>3,413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377440"/>
            <a:ext cx="235915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4D617A"/>
                </a:solidFill>
                <a:latin typeface="Aptos"/>
              </a:rPr>
              <a:t>unique significant genes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810512"/>
            <a:ext cx="257860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947672"/>
            <a:ext cx="2331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00A49D"/>
                </a:solidFill>
                <a:latin typeface="Aptos"/>
              </a:rPr>
              <a:t>1,009 / 2,404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2377440"/>
            <a:ext cx="235915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4D617A"/>
                </a:solidFill>
                <a:latin typeface="Aptos"/>
              </a:rPr>
              <a:t>upregulated / downregulated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127248"/>
            <a:ext cx="3520440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" y="3182112"/>
            <a:ext cx="54864" cy="1609343"/>
          </a:xfrm>
          <a:prstGeom prst="rect">
            <a:avLst/>
          </a:prstGeom>
          <a:solidFill>
            <a:srgbClr val="00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273552"/>
            <a:ext cx="31729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3233F"/>
                </a:solidFill>
                <a:latin typeface="Aptos"/>
              </a:rPr>
              <a:t>Differential expression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639312"/>
            <a:ext cx="3172968" cy="10972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D617A"/>
                </a:solidFill>
                <a:latin typeface="Aptos"/>
              </a:rPr>
              <a:t>limma paired design (patient + group). Filter: adjusted p &lt; 0.05 and |log2 fold change| ≥ 1. Volcano plot and top-50 DEG heatmap are generated.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6" y="3127248"/>
            <a:ext cx="3520440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4256" y="3182112"/>
            <a:ext cx="54864" cy="1609343"/>
          </a:xfrm>
          <a:prstGeom prst="rect">
            <a:avLst/>
          </a:prstGeom>
          <a:solidFill>
            <a:srgbClr val="4B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3273552"/>
            <a:ext cx="31729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3233F"/>
                </a:solidFill>
                <a:latin typeface="Aptos"/>
              </a:rPr>
              <a:t>Gene annotation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3639312"/>
            <a:ext cx="3172968" cy="10972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4D617A"/>
                </a:solidFill>
                <a:latin typeface="Aptos"/>
              </a:rPr>
              <a:t>Gene symbols are mapped to Entrez IDs using org.Hs.eg.db / clusterProfiler. 3,002 of 3,413 significant gene symbols mapped in the reported run.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127248"/>
            <a:ext cx="3520440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182112"/>
            <a:ext cx="54864" cy="1609343"/>
          </a:xfrm>
          <a:prstGeom prst="rect">
            <a:avLst/>
          </a:prstGeom>
          <a:solidFill>
            <a:srgbClr val="13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273552"/>
            <a:ext cx="31729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3233F"/>
                </a:solidFill>
                <a:latin typeface="Aptos"/>
              </a:rPr>
              <a:t>GO + KEGG enrichment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639312"/>
            <a:ext cx="3172968" cy="10972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4D617A"/>
                </a:solidFill>
                <a:latin typeface="Aptos"/>
              </a:rPr>
              <a:t>The script runs GO Biological Process and KEGG enrichment and writes CSVs / dot plots. Specific enriched terms are not included in the supplied ZIP, so they must be read from the local output files before naming pathways.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03520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DC4B52"/>
                </a:solidFill>
                <a:latin typeface="Aptos"/>
              </a:rPr>
              <a:t>Interpretation: these are candidate expression differences associated with adenoma, not proof that the genes cause cancer. Gene-ID mapping warnings mean enrichment should be interpreted with care.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0A49D"/>
                </a:solidFill>
                <a:latin typeface="Aptos"/>
              </a:rPr>
              <a:t>15 •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3233F"/>
                </a:solidFill>
                <a:latin typeface="Aptos"/>
              </a:rPr>
              <a:t>External validation: harmonization changed 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4D617A"/>
                </a:solidFill>
                <a:latin typeface="Aptos"/>
              </a:rPr>
              <a:t>GSE50114 contains 46 samples (37 Adenoma, 9 Normal) from a different microarray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4D617A"/>
                </a:solidFill>
                <a:latin typeface="Aptos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755648"/>
            <a:ext cx="3026664" cy="429768"/>
          </a:xfrm>
          <a:prstGeom prst="rect">
            <a:avLst/>
          </a:prstGeom>
          <a:solidFill>
            <a:srgbClr val="13233F"/>
          </a:solidFill>
          <a:ln w="10160">
            <a:solidFill>
              <a:srgbClr val="13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37943"/>
            <a:ext cx="295351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19" b="1">
                <a:solidFill>
                  <a:srgbClr val="FFFFFF"/>
                </a:solidFill>
                <a:latin typeface="Aptos"/>
              </a:rPr>
              <a:t>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85032" y="1755648"/>
            <a:ext cx="1810512" cy="429768"/>
          </a:xfrm>
          <a:prstGeom prst="rect">
            <a:avLst/>
          </a:prstGeom>
          <a:solidFill>
            <a:srgbClr val="13233F"/>
          </a:solidFill>
          <a:ln w="10160">
            <a:solidFill>
              <a:srgbClr val="13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1837943"/>
            <a:ext cx="17373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19" b="1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1755648"/>
            <a:ext cx="1810512" cy="429768"/>
          </a:xfrm>
          <a:prstGeom prst="rect">
            <a:avLst/>
          </a:prstGeom>
          <a:solidFill>
            <a:srgbClr val="13233F"/>
          </a:solidFill>
          <a:ln w="10160">
            <a:solidFill>
              <a:srgbClr val="13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68696" y="1837943"/>
            <a:ext cx="17373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19" b="1">
                <a:solidFill>
                  <a:srgbClr val="FFFFFF"/>
                </a:solidFill>
                <a:latin typeface="Aptos"/>
              </a:rPr>
              <a:t>Balanced acc.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755648"/>
            <a:ext cx="1810512" cy="429768"/>
          </a:xfrm>
          <a:prstGeom prst="rect">
            <a:avLst/>
          </a:prstGeom>
          <a:solidFill>
            <a:srgbClr val="13233F"/>
          </a:solidFill>
          <a:ln w="10160">
            <a:solidFill>
              <a:srgbClr val="13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15783" y="1837943"/>
            <a:ext cx="17373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19" b="1">
                <a:solidFill>
                  <a:srgbClr val="FFFFFF"/>
                </a:solidFill>
                <a:latin typeface="Aptos"/>
              </a:rPr>
              <a:t>Sensitivity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26296" y="1755648"/>
            <a:ext cx="1810512" cy="429768"/>
          </a:xfrm>
          <a:prstGeom prst="rect">
            <a:avLst/>
          </a:prstGeom>
          <a:solidFill>
            <a:srgbClr val="13233F"/>
          </a:solidFill>
          <a:ln w="10160">
            <a:solidFill>
              <a:srgbClr val="13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1837943"/>
            <a:ext cx="17373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19" b="1">
                <a:solidFill>
                  <a:srgbClr val="FFFFFF"/>
                </a:solidFill>
                <a:latin typeface="Aptos"/>
              </a:rPr>
              <a:t>Specificity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185415"/>
            <a:ext cx="3026664" cy="411479"/>
          </a:xfrm>
          <a:prstGeom prst="rect">
            <a:avLst/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258568"/>
            <a:ext cx="29443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>
                <a:solidFill>
                  <a:srgbClr val="13233F"/>
                </a:solidFill>
                <a:latin typeface="Aptos"/>
              </a:rPr>
              <a:t>Internal grouped 5-fold CV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85032" y="2185415"/>
            <a:ext cx="1810512" cy="411479"/>
          </a:xfrm>
          <a:prstGeom prst="rect">
            <a:avLst/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2258568"/>
            <a:ext cx="17282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0">
                <a:solidFill>
                  <a:srgbClr val="13233F"/>
                </a:solidFill>
                <a:latin typeface="Aptos"/>
              </a:rPr>
              <a:t>100.0%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2185415"/>
            <a:ext cx="1810512" cy="411479"/>
          </a:xfrm>
          <a:prstGeom prst="rect">
            <a:avLst/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258568"/>
            <a:ext cx="17282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0">
                <a:solidFill>
                  <a:srgbClr val="13233F"/>
                </a:solidFill>
                <a:latin typeface="Aptos"/>
              </a:rPr>
              <a:t>100.0%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9208" y="2185415"/>
            <a:ext cx="1810512" cy="411479"/>
          </a:xfrm>
          <a:prstGeom prst="rect">
            <a:avLst/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8" y="2258568"/>
            <a:ext cx="17282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0">
                <a:solidFill>
                  <a:srgbClr val="13233F"/>
                </a:solidFill>
                <a:latin typeface="Aptos"/>
              </a:rPr>
              <a:t>100.0%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26296" y="2185415"/>
            <a:ext cx="1810512" cy="411479"/>
          </a:xfrm>
          <a:prstGeom prst="rect">
            <a:avLst/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6" y="2258568"/>
            <a:ext cx="17282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0">
                <a:solidFill>
                  <a:srgbClr val="13233F"/>
                </a:solidFill>
                <a:latin typeface="Aptos"/>
              </a:rPr>
              <a:t>100.0%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2615184"/>
            <a:ext cx="3026664" cy="411479"/>
          </a:xfrm>
          <a:prstGeom prst="rect">
            <a:avLst/>
          </a:prstGeom>
          <a:solidFill>
            <a:srgbClr val="E8EFF6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2688336"/>
            <a:ext cx="29443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>
                <a:solidFill>
                  <a:srgbClr val="13233F"/>
                </a:solidFill>
                <a:latin typeface="Aptos"/>
              </a:rPr>
              <a:t>External • original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85032" y="2615184"/>
            <a:ext cx="1810512" cy="411479"/>
          </a:xfrm>
          <a:prstGeom prst="rect">
            <a:avLst/>
          </a:prstGeom>
          <a:solidFill>
            <a:srgbClr val="E8EFF6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0752" y="2688336"/>
            <a:ext cx="17282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0">
                <a:solidFill>
                  <a:srgbClr val="13233F"/>
                </a:solidFill>
                <a:latin typeface="Aptos"/>
              </a:rPr>
              <a:t>23.9%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2615184"/>
            <a:ext cx="1810512" cy="411479"/>
          </a:xfrm>
          <a:prstGeom prst="rect">
            <a:avLst/>
          </a:prstGeom>
          <a:solidFill>
            <a:srgbClr val="E8EFF6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2688336"/>
            <a:ext cx="17282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0">
                <a:solidFill>
                  <a:srgbClr val="13233F"/>
                </a:solidFill>
                <a:latin typeface="Aptos"/>
              </a:rPr>
              <a:t>52.7%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79208" y="2615184"/>
            <a:ext cx="1810512" cy="411479"/>
          </a:xfrm>
          <a:prstGeom prst="rect">
            <a:avLst/>
          </a:prstGeom>
          <a:solidFill>
            <a:srgbClr val="E8EFF6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4928" y="2688336"/>
            <a:ext cx="17282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0">
                <a:solidFill>
                  <a:srgbClr val="13233F"/>
                </a:solidFill>
                <a:latin typeface="Aptos"/>
              </a:rPr>
              <a:t>5.4%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26296" y="2615184"/>
            <a:ext cx="1810512" cy="411479"/>
          </a:xfrm>
          <a:prstGeom prst="rect">
            <a:avLst/>
          </a:prstGeom>
          <a:solidFill>
            <a:srgbClr val="E8EFF6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2688336"/>
            <a:ext cx="17282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0">
                <a:solidFill>
                  <a:srgbClr val="13233F"/>
                </a:solidFill>
                <a:latin typeface="Aptos"/>
              </a:rPr>
              <a:t>100.0%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" y="3044952"/>
            <a:ext cx="3026664" cy="411479"/>
          </a:xfrm>
          <a:prstGeom prst="rect">
            <a:avLst/>
          </a:prstGeom>
          <a:solidFill>
            <a:srgbClr val="DCF6F0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3118104"/>
            <a:ext cx="29443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>
                <a:solidFill>
                  <a:srgbClr val="13233F"/>
                </a:solidFill>
                <a:latin typeface="Aptos"/>
              </a:rPr>
              <a:t>External • harmonized pipeline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85032" y="3044952"/>
            <a:ext cx="1810512" cy="411479"/>
          </a:xfrm>
          <a:prstGeom prst="rect">
            <a:avLst/>
          </a:prstGeom>
          <a:solidFill>
            <a:srgbClr val="DCF6F0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30752" y="3118104"/>
            <a:ext cx="17282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1">
                <a:solidFill>
                  <a:srgbClr val="13233F"/>
                </a:solidFill>
                <a:latin typeface="Aptos"/>
              </a:rPr>
              <a:t>93.5%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3044952"/>
            <a:ext cx="1810512" cy="411479"/>
          </a:xfrm>
          <a:prstGeom prst="rect">
            <a:avLst/>
          </a:prstGeom>
          <a:solidFill>
            <a:srgbClr val="DCF6F0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3118104"/>
            <a:ext cx="17282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1">
                <a:solidFill>
                  <a:srgbClr val="13233F"/>
                </a:solidFill>
                <a:latin typeface="Aptos"/>
              </a:rPr>
              <a:t>95.9%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79208" y="3044952"/>
            <a:ext cx="1810512" cy="411479"/>
          </a:xfrm>
          <a:prstGeom prst="rect">
            <a:avLst/>
          </a:prstGeom>
          <a:solidFill>
            <a:srgbClr val="DCF6F0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24928" y="3118104"/>
            <a:ext cx="17282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1">
                <a:solidFill>
                  <a:srgbClr val="13233F"/>
                </a:solidFill>
                <a:latin typeface="Aptos"/>
              </a:rPr>
              <a:t>91.9%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26296" y="3044952"/>
            <a:ext cx="1810512" cy="411479"/>
          </a:xfrm>
          <a:prstGeom prst="rect">
            <a:avLst/>
          </a:prstGeom>
          <a:solidFill>
            <a:srgbClr val="DCF6F0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72016" y="3118104"/>
            <a:ext cx="17282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30" b="1">
                <a:solidFill>
                  <a:srgbClr val="13233F"/>
                </a:solidFill>
                <a:latin typeface="Aptos"/>
              </a:rPr>
              <a:t>100.0%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3566160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3233F"/>
                </a:solidFill>
                <a:latin typeface="Aptos"/>
              </a:rPr>
              <a:t>Original pipeline</a:t>
            </a:r>
          </a:p>
        </p:txBody>
      </p:sp>
      <p:pic>
        <p:nvPicPr>
          <p:cNvPr id="47" name="Picture 46" descr="externa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822191"/>
            <a:ext cx="3063240" cy="217627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434840" y="3566160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3233F"/>
                </a:solidFill>
                <a:latin typeface="Aptos"/>
              </a:rPr>
              <a:t>Harmonized pipeline</a:t>
            </a:r>
          </a:p>
        </p:txBody>
      </p:sp>
      <p:pic>
        <p:nvPicPr>
          <p:cNvPr id="49" name="Picture 48" descr="fig_confusion_harmon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3822191"/>
            <a:ext cx="3063240" cy="2176272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7818120" y="3685032"/>
            <a:ext cx="37033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28431" y="3867912"/>
            <a:ext cx="3246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0A49D"/>
                </a:solidFill>
                <a:latin typeface="Aptos"/>
              </a:rPr>
              <a:t>What changed?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28431" y="4261104"/>
            <a:ext cx="3218688" cy="155448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30">
                <a:solidFill>
                  <a:srgbClr val="4D617A"/>
                </a:solidFill>
                <a:latin typeface="Aptos"/>
              </a:rPr>
              <a:t>The original model predicted 35/37 adenomas as Normal. Harmonization (log2 transform for GSE8671 + per-dataset gene-wise z-score) improved transfer: 34/37 adenomas and 9/9 normals were correct. Harmonized precision = 100%, F1 = 95.8%, ROC AUC = 1.00. The original run also had AUC = 1.00 despite poor threshold-based classification.</a:t>
            </a:r>
            <a:br/>
            <a:br/>
            <a:r>
              <a:rPr sz="930">
                <a:solidFill>
                  <a:srgbClr val="4D617A"/>
                </a:solidFill>
                <a:latin typeface="Aptos"/>
              </a:rPr>
              <a:t>Caution: per-dataset z-scoring uses the external cohort's distribution; this is not yet a validated single-new-patient workflow.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0A49D"/>
                </a:solidFill>
                <a:latin typeface="Aptos"/>
              </a:rPr>
              <a:t>16 •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3233F"/>
                </a:solidFill>
                <a:latin typeface="Aptos"/>
              </a:rPr>
              <a:t>What can we conclude?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4D617A"/>
                </a:solidFill>
                <a:latin typeface="Aptos"/>
              </a:rPr>
              <a:t>The strongest evidence is a research signal and a validation lesson—not a clinically ready diagnostic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4D617A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55648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810512"/>
            <a:ext cx="54864" cy="1307592"/>
          </a:xfrm>
          <a:prstGeom prst="rect">
            <a:avLst/>
          </a:prstGeom>
          <a:solidFill>
            <a:srgbClr val="00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31729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3233F"/>
                </a:solidFill>
                <a:latin typeface="Aptos"/>
              </a:rPr>
              <a:t>Candidate gene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67712"/>
            <a:ext cx="3172968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4D617A"/>
                </a:solidFill>
                <a:latin typeface="Aptos"/>
              </a:rPr>
              <a:t>The harmonized logistic model's leading weighted genes include GTF2IRD1, GALNT6, SLC12A2, AXIN2 and RNF43. These are model features for follow-up, not proven causal drivers.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755648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810512"/>
            <a:ext cx="54864" cy="1307592"/>
          </a:xfrm>
          <a:prstGeom prst="rect">
            <a:avLst/>
          </a:prstGeom>
          <a:solidFill>
            <a:srgbClr val="4B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901952"/>
            <a:ext cx="31729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3233F"/>
                </a:solidFill>
                <a:latin typeface="Aptos"/>
              </a:rPr>
              <a:t>Biological 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267712"/>
            <a:ext cx="3172968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4D617A"/>
                </a:solidFill>
                <a:latin typeface="Aptos"/>
              </a:rPr>
              <a:t>R identified 3,413 unique significant genes. GO/KEGG were run; cite named pathways only after confirming the local enrichment CSVs and adjusted p-values.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55648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10512"/>
            <a:ext cx="54864" cy="1307592"/>
          </a:xfrm>
          <a:prstGeom prst="rect">
            <a:avLst/>
          </a:prstGeom>
          <a:solidFill>
            <a:srgbClr val="13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01952"/>
            <a:ext cx="31729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3233F"/>
                </a:solidFill>
                <a:latin typeface="Aptos"/>
              </a:rPr>
              <a:t>Validation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67712"/>
            <a:ext cx="3172968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4D617A"/>
                </a:solidFill>
                <a:latin typeface="Aptos"/>
              </a:rPr>
              <a:t>Internal grouped CV was perfect, but the unharmonized external accuracy was 23.9%. Harmonized external accuracy was 93.5%; this is promising but needs independent replication.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493008"/>
            <a:ext cx="10972800" cy="1261872"/>
          </a:xfrm>
          <a:prstGeom prst="roundRect">
            <a:avLst>
              <a:gd name="adj" fmla="val 12000"/>
            </a:avLst>
          </a:prstGeom>
          <a:solidFill>
            <a:srgbClr val="DCF6F0"/>
          </a:solidFill>
          <a:ln w="10160">
            <a:solidFill>
              <a:srgbClr val="DC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675887"/>
            <a:ext cx="53035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3233F"/>
                </a:solidFill>
                <a:latin typeface="Aptos"/>
              </a:rPr>
              <a:t>ANOVA feature ranking (exploratory top probes)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096512"/>
            <a:ext cx="103784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20" b="1">
                <a:solidFill>
                  <a:srgbClr val="4D617A"/>
                </a:solidFill>
                <a:latin typeface="Aptos"/>
              </a:rPr>
              <a:t>206134_at  F=724.55  p=6.58×10⁻³⁶     •     209301_at  F=656.42  p=1.09×10⁻³⁴     •     203908_at  F=599.46  p=1.42×10⁻³³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489704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>
                <a:solidFill>
                  <a:srgbClr val="4D617A"/>
                </a:solidFill>
                <a:latin typeface="Aptos"/>
              </a:rPr>
              <a:t>The F-score measures group separation relative to within-group variation; it is not a model accuracy score. These displayed scores were calculated across all samples for exploration, not within each held-out CV fold.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120640"/>
            <a:ext cx="3657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3233F"/>
                </a:solidFill>
                <a:latin typeface="Aptos"/>
              </a:rPr>
              <a:t>Limitations to state in the viva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68112"/>
            <a:ext cx="100584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30" b="0">
                <a:solidFill>
                  <a:srgbClr val="4D617A"/>
                </a:solidFill>
                <a:latin typeface="Aptos"/>
              </a:rPr>
              <a:t>• Small cohorts; only 9 external normal samples</a:t>
            </a:r>
          </a:p>
          <a:p>
            <a:pPr algn="l">
              <a:spcAft>
                <a:spcPts val="300"/>
              </a:spcAft>
            </a:pPr>
            <a:r>
              <a:rPr sz="1130" b="0">
                <a:solidFill>
                  <a:srgbClr val="4D617A"/>
                </a:solidFill>
                <a:latin typeface="Aptos"/>
              </a:rPr>
              <a:t>• Different platforms can introduce batch effects</a:t>
            </a:r>
          </a:p>
          <a:p>
            <a:pPr algn="l">
              <a:spcAft>
                <a:spcPts val="300"/>
              </a:spcAft>
            </a:pPr>
            <a:r>
              <a:rPr sz="1130" b="0">
                <a:solidFill>
                  <a:srgbClr val="4D617A"/>
                </a:solidFill>
                <a:latin typeface="Aptos"/>
              </a:rPr>
              <a:t>• Gene mapping is incomplete; enrichment terms need direct review</a:t>
            </a:r>
          </a:p>
          <a:p>
            <a:pPr algn="l">
              <a:spcAft>
                <a:spcPts val="300"/>
              </a:spcAft>
            </a:pPr>
            <a:r>
              <a:rPr sz="1130" b="0">
                <a:solidFill>
                  <a:srgbClr val="4D617A"/>
                </a:solidFill>
                <a:latin typeface="Aptos"/>
              </a:rPr>
              <a:t>• No prospective clinical validation; not a diagnostic tool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14400"/>
            <a:ext cx="10789920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Where could the project go next?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320040" cy="320040"/>
          </a:xfrm>
          <a:prstGeom prst="ellipse">
            <a:avLst/>
          </a:prstGeom>
          <a:solidFill>
            <a:srgbClr val="18A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1810512"/>
            <a:ext cx="30175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More independent cohorts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810512"/>
            <a:ext cx="67665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C2D3E4"/>
                </a:solidFill>
                <a:latin typeface="Aptos"/>
              </a:defRPr>
            </a:pPr>
            <a:r>
              <a:t>Check robustness across larger and more diverse datasets.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743200"/>
            <a:ext cx="320040" cy="320040"/>
          </a:xfrm>
          <a:prstGeom prst="ellipse">
            <a:avLst/>
          </a:prstGeom>
          <a:solidFill>
            <a:srgbClr val="4D8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2724912"/>
            <a:ext cx="30175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Reference-based harmonization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724912"/>
            <a:ext cx="67665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C2D3E4"/>
                </a:solidFill>
                <a:latin typeface="Aptos"/>
              </a:defRPr>
            </a:pPr>
            <a:r>
              <a:t>Develop a workflow suitable for a single new sample.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657600"/>
            <a:ext cx="320040" cy="320040"/>
          </a:xfrm>
          <a:prstGeom prst="ellipse">
            <a:avLst/>
          </a:prstGeom>
          <a:solidFill>
            <a:srgbClr val="F29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3639312"/>
            <a:ext cx="30175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Broader biological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639312"/>
            <a:ext cx="67665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C2D3E4"/>
                </a:solidFill>
                <a:latin typeface="Aptos"/>
              </a:defRPr>
            </a:pPr>
            <a:r>
              <a:t>Explore pathways and compare adenoma with carcinoma.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572000"/>
            <a:ext cx="320040" cy="320040"/>
          </a:xfrm>
          <a:prstGeom prst="ellipse">
            <a:avLst/>
          </a:prstGeom>
          <a:solidFill>
            <a:srgbClr val="856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4553712"/>
            <a:ext cx="30175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Prospective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553712"/>
            <a:ext cx="67665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C2D3E4"/>
                </a:solidFill>
                <a:latin typeface="Aptos"/>
              </a:defRPr>
            </a:pPr>
            <a:r>
              <a:t>Only after extensive testing, assess whether it could support clinical research.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5715000"/>
            <a:ext cx="10332720" cy="0"/>
          </a:xfrm>
          <a:prstGeom prst="line">
            <a:avLst/>
          </a:prstGeom>
          <a:ln w="12700">
            <a:solidFill>
              <a:srgbClr val="445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04549" y="5897410"/>
            <a:ext cx="1369541" cy="41242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rPr dirty="0"/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3B8CF"/>
                </a:solidFill>
                <a:latin typeface="Aptos"/>
              </a:defRPr>
            </a:pPr>
            <a:r>
              <a:rPr sz="900">
                <a:solidFill>
                  <a:srgbClr val="4D617A"/>
                </a:solidFill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1076</Words>
  <Application>Microsoft Office PowerPoint</Application>
  <PresentationFormat>Widescreen</PresentationFormat>
  <Paragraphs>163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 K</dc:creator>
  <cp:keywords/>
  <dc:description>generated using python-pptx</dc:description>
  <cp:lastModifiedBy>A K</cp:lastModifiedBy>
  <cp:revision>2</cp:revision>
  <dcterms:created xsi:type="dcterms:W3CDTF">2013-01-27T09:14:16Z</dcterms:created>
  <dcterms:modified xsi:type="dcterms:W3CDTF">2026-10-28T17:25:00Z</dcterms:modified>
  <cp:category/>
</cp:coreProperties>
</file>